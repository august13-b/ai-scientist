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0" r:id="rId2"/>
    <p:sldId id="261" r:id="rId3"/>
    <p:sldId id="263" r:id="rId4"/>
    <p:sldId id="262" r:id="rId5"/>
    <p:sldId id="259" r:id="rId6"/>
    <p:sldId id="258" r:id="rId7"/>
    <p:sldId id="265" r:id="rId8"/>
    <p:sldId id="268" r:id="rId9"/>
    <p:sldId id="269" r:id="rId10"/>
    <p:sldId id="267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61"/>
    <p:restoredTop sz="94728"/>
  </p:normalViewPr>
  <p:slideViewPr>
    <p:cSldViewPr snapToGrid="0">
      <p:cViewPr varScale="1">
        <p:scale>
          <a:sx n="97" d="100"/>
          <a:sy n="97" d="100"/>
        </p:scale>
        <p:origin x="121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55" d="100"/>
          <a:sy n="155" d="100"/>
        </p:scale>
        <p:origin x="4968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64FC64-4FF0-3141-90D3-24613BB242B6}" type="datetimeFigureOut">
              <a:rPr kumimoji="1" lang="zh-CN" altLang="en-US" smtClean="0"/>
              <a:t>2026/8/19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2B2780-5E5C-3F4C-8BF6-151CA68DAE6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32497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2B2780-5E5C-3F4C-8BF6-151CA68DAE6E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987132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0D489E-DDCD-3A89-DAAD-C20F8D37FC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5F4413E-D2FE-3989-80E9-1CCF31A56A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FA3C73-CDD6-FABF-BE9A-8B01BA7FE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A849B-4516-9945-A0F1-5F013B1CDA3E}" type="datetimeFigureOut">
              <a:rPr kumimoji="1" lang="zh-CN" altLang="en-US" smtClean="0"/>
              <a:t>2026/8/19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311C8C-6EB3-DF9A-9D8E-531CEECF3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0F31CC-132B-8DB5-9A51-808FD32BA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36997-E159-7C4B-AE30-3460839A96E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78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A91A36-0131-7937-6A79-FF8EA357C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091A85-AB67-FCE0-89C3-AD90C6EB7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3364D3-82CA-4AF4-90DE-A626F4565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A849B-4516-9945-A0F1-5F013B1CDA3E}" type="datetimeFigureOut">
              <a:rPr kumimoji="1" lang="zh-CN" altLang="en-US" smtClean="0"/>
              <a:t>2026/8/19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20D6E5-06AB-ADE1-F9BF-5ACF62531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1F2348-3D7D-79A5-9F95-EE162221D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36997-E159-7C4B-AE30-3460839A96E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67872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632420-BF4B-06E7-17AB-CDF2FA565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446A8A-C06A-573F-4A82-00D7563139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15FDA7-EC33-7FA2-FBE4-06F4ED2CF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A849B-4516-9945-A0F1-5F013B1CDA3E}" type="datetimeFigureOut">
              <a:rPr kumimoji="1" lang="zh-CN" altLang="en-US" smtClean="0"/>
              <a:t>2026/8/19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F66BB-465A-05F1-A152-D11C071B3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210049-F65A-E125-D1F7-80654DD78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36997-E159-7C4B-AE30-3460839A96E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53841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B8D287-8464-94D2-A386-F2C963081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5CA7EA-613C-0547-E107-B14455D382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FCF6395-C5B3-4C5D-9138-47D3BB61C2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E64B8C4-E73F-023F-6AF2-4B6B15CCC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A849B-4516-9945-A0F1-5F013B1CDA3E}" type="datetimeFigureOut">
              <a:rPr kumimoji="1" lang="zh-CN" altLang="en-US" smtClean="0"/>
              <a:t>2026/8/19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69A285A-BC85-ACE5-EC6E-8BC08E9BC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F586CE8-F142-B47D-3700-BA38128CB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36997-E159-7C4B-AE30-3460839A96E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52359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AAB7B3-E77D-C851-BD31-B7DE754F1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3B4E769-F04A-69D0-F929-B86581E0B5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CE501E9-2E59-F553-72C2-4594B83393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0CA0AB8-5B6A-9488-F4A6-6B80052E54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A9FFF53-CEE1-858A-77BA-00791CC11B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670C20C-B93F-0AA1-273A-7B04F1AD8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A849B-4516-9945-A0F1-5F013B1CDA3E}" type="datetimeFigureOut">
              <a:rPr kumimoji="1" lang="zh-CN" altLang="en-US" smtClean="0"/>
              <a:t>2026/8/19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0F184FB-6DA9-0700-5D1D-DE779FC3D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412D49F-7108-5F7E-4906-2255FE914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36997-E159-7C4B-AE30-3460839A96E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0124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9C2234-2849-4C96-72E3-E479140A5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07A7240-FEA1-4620-6380-0187C9706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A849B-4516-9945-A0F1-5F013B1CDA3E}" type="datetimeFigureOut">
              <a:rPr kumimoji="1" lang="zh-CN" altLang="en-US" smtClean="0"/>
              <a:t>2026/8/19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4878F14-95EE-8F66-34F9-AC11B9C6B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499A242-44A5-B3D0-D907-BFB4DB6E8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36997-E159-7C4B-AE30-3460839A96E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71136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95F2B5A-5294-9F30-8AF6-E7FA1D154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A849B-4516-9945-A0F1-5F013B1CDA3E}" type="datetimeFigureOut">
              <a:rPr kumimoji="1" lang="zh-CN" altLang="en-US" smtClean="0"/>
              <a:t>2026/8/19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6A9F51F-AED6-0D48-A9E9-4168A0C92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635BDE-12C1-BFCC-5E15-862A88F63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36997-E159-7C4B-AE30-3460839A96E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26422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1576B6-FBAA-5108-4A98-FC2F77EE7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7FDCEE-5F9D-C78E-A189-C1C61CE50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776EE5A-7AD0-5626-92AD-4563AB5A72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BD53C84-4464-6C88-5457-CE68B6610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A849B-4516-9945-A0F1-5F013B1CDA3E}" type="datetimeFigureOut">
              <a:rPr kumimoji="1" lang="zh-CN" altLang="en-US" smtClean="0"/>
              <a:t>2026/8/19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A37EFEA-F45E-8373-1981-6184A1F55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9EA2CF-C738-5C89-E7D7-458459117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36997-E159-7C4B-AE30-3460839A96E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59782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0DE177-ADCA-6E41-6A57-F7BB826FC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6E0AB61-E968-FEE0-DEE5-74F9804AEE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C4EEBCE-A288-A325-AD64-868DA494B6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F45EB09-5EC0-D5A8-6157-6BAE906AA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A849B-4516-9945-A0F1-5F013B1CDA3E}" type="datetimeFigureOut">
              <a:rPr kumimoji="1" lang="zh-CN" altLang="en-US" smtClean="0"/>
              <a:t>2026/8/19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24E4EDE-5CB4-20FD-7EA0-0AEFB0BB2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78492EE-7BFC-8787-1B5E-A5CA45A20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36997-E159-7C4B-AE30-3460839A96E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37244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BA23E3-5EE2-A0B7-37BD-8655B4A8D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02D1B0C-254B-8A32-D1A0-9F908E4655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C5DE76-DB35-7BE6-7D93-644A2D353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A849B-4516-9945-A0F1-5F013B1CDA3E}" type="datetimeFigureOut">
              <a:rPr kumimoji="1" lang="zh-CN" altLang="en-US" smtClean="0"/>
              <a:t>2026/8/19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85E70A-01E2-B59A-7D42-42B305417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0F3F6C-B51D-99A1-B4D2-6673B3793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36997-E159-7C4B-AE30-3460839A96E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11046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E237F33-01DC-5C00-4C67-1CE644915D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14BED9C-2D79-AFBA-23B1-95E8BCCB4A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9369A3-EBA0-EEDE-A9A6-F7A814321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A849B-4516-9945-A0F1-5F013B1CDA3E}" type="datetimeFigureOut">
              <a:rPr kumimoji="1" lang="zh-CN" altLang="en-US" smtClean="0"/>
              <a:t>2026/8/19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312591-0E28-6CF6-A68A-12EF6B4CF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7D534B-621A-9B18-A13D-976F8616B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36997-E159-7C4B-AE30-3460839A96E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59602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14D16DA-6F32-4B1B-07BF-02949345A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478ECD-DE4A-6C41-4470-9721499A7E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6C160F-1BCF-CA9D-69C8-E574456B19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FA849B-4516-9945-A0F1-5F013B1CDA3E}" type="datetimeFigureOut">
              <a:rPr kumimoji="1" lang="zh-CN" altLang="en-US" smtClean="0"/>
              <a:t>2026/8/19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E20E26-5FB2-4999-FE33-2AF30AA07D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9FA899-2252-E8C9-E526-428BC92092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E36997-E159-7C4B-AE30-3460839A96E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05716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university.aliyun.com/action/tzbjbgs2026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files.alicdn.com/tpsservice/dba1def4f6c8230450e4b510eb9c5490.zip" TargetMode="External"/><Relationship Id="rId2" Type="http://schemas.openxmlformats.org/officeDocument/2006/relationships/hyperlink" Target="https://files.alicdn.com/tpsservice/a55e44bae21d1270bb4a9f6a3dfec87d.zip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files.alicdn.com/tpsservice/7c328b8db51d45e60c28551f95ee800b.zip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files.alicdn.com/tpsservice/b0ee719121e498a69e17d8817226ad35.zip" TargetMode="External"/><Relationship Id="rId2" Type="http://schemas.openxmlformats.org/officeDocument/2006/relationships/hyperlink" Target="https://files.alicdn.com/tpsservice/4126555d490cc2d04570d9233e30a7ea.zip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files.alicdn.com/tpsservice/6351ee37da9ee3953478122ef59b6a8d.zip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files.alicdn.com/tpsservice/4d44ff0573a4ee248f1688765d958ca1.zip" TargetMode="External"/><Relationship Id="rId2" Type="http://schemas.openxmlformats.org/officeDocument/2006/relationships/hyperlink" Target="https://files.alicdn.com/tpsservice/7b5b18a0735f77a3c6c8bacfa7b7fed0.zip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files.alicdn.com/tpsservice/c8eeeba1a3220c08931d01ed0c5a98c0.zip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29CB1-28B3-DA2C-BB57-5EB216C3C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90D5DEFA-F964-FA5E-EABF-5D9747CDC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829" y="0"/>
            <a:ext cx="12212558" cy="291046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B856B7F-0CC8-7132-269B-E06592C71FD3}"/>
              </a:ext>
            </a:extLst>
          </p:cNvPr>
          <p:cNvSpPr txBox="1"/>
          <p:nvPr/>
        </p:nvSpPr>
        <p:spPr>
          <a:xfrm>
            <a:off x="1628079" y="4098770"/>
            <a:ext cx="9494907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6600" b="1" dirty="0">
                <a:solidFill>
                  <a:srgbClr val="0432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作品提交详细要求及模板</a:t>
            </a:r>
          </a:p>
        </p:txBody>
      </p:sp>
    </p:spTree>
    <p:extLst>
      <p:ext uri="{BB962C8B-B14F-4D97-AF65-F5344CB8AC3E}">
        <p14:creationId xmlns:p14="http://schemas.microsoft.com/office/powerpoint/2010/main" val="2256737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9A71687-BEB7-C67C-B1DE-0CBF3A6E5D0A}"/>
              </a:ext>
            </a:extLst>
          </p:cNvPr>
          <p:cNvSpPr txBox="1"/>
          <p:nvPr/>
        </p:nvSpPr>
        <p:spPr>
          <a:xfrm>
            <a:off x="459971" y="636510"/>
            <a:ext cx="4134465" cy="662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8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参赛作品提交要求如下：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D65A156-D649-FDE8-D765-1A85B2C8140F}"/>
              </a:ext>
            </a:extLst>
          </p:cNvPr>
          <p:cNvSpPr txBox="1"/>
          <p:nvPr/>
        </p:nvSpPr>
        <p:spPr>
          <a:xfrm>
            <a:off x="459971" y="1776675"/>
            <a:ext cx="11272057" cy="444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b="1" dirty="0"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所有作品最终提交材料格式：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作品文件以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PDF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格式提交，每个赛道选题方向都有对应的要求及模板可下载（该文件后面页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官网赛道对应的作品提交说明），可按照模板的结构进行输出。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Tx/>
              <a:buAutoNum type="arabicPeriod"/>
            </a:pPr>
            <a:r>
              <a:rPr lang="zh-CN" altLang="en-US" b="1" dirty="0"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作品提交尺寸及页数</a:t>
            </a:r>
            <a:r>
              <a:rPr lang="en-US" altLang="zh-CN" b="1" dirty="0"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b="1" dirty="0"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大小限制：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支持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ppt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word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两种方式输出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PDF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，横版竖版的均可，不超过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30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页（基于同学们的反馈将原来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20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页增加至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30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页），</a:t>
            </a:r>
            <a:r>
              <a:rPr lang="e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大小不超过</a:t>
            </a:r>
            <a:r>
              <a:rPr lang="e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200M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b="1" dirty="0"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加分项</a:t>
            </a:r>
            <a:r>
              <a:rPr lang="en-US" altLang="zh-CN" b="1" dirty="0"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b="1" dirty="0"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参赛项目演示视频（非必选项）：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可用视频表达作品介绍、能力展示、团队合作、创作故事等，有助于使评委更加了解作品。要求：视频不超过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分钟，</a:t>
            </a:r>
            <a:r>
              <a:rPr lang="e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MP4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格式高清，提前上传至夸克网盘。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b="1" dirty="0"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参赛作品（含视频）提交文件命名格式：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编号</a:t>
            </a: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学校</a:t>
            </a: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申报人姓名</a:t>
            </a: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作品名称。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b="1" dirty="0"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作品水印规范：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参赛作品详情页及演示视频中，不允许以水印等方式将作者姓名、学校等相关信息呈现。</a:t>
            </a:r>
          </a:p>
        </p:txBody>
      </p:sp>
    </p:spTree>
    <p:extLst>
      <p:ext uri="{BB962C8B-B14F-4D97-AF65-F5344CB8AC3E}">
        <p14:creationId xmlns:p14="http://schemas.microsoft.com/office/powerpoint/2010/main" val="2021638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6F3DD-C000-1DAE-916B-5F59D021D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9BC9CFF-4096-53B9-2732-7D40E6E9EF3A}"/>
              </a:ext>
            </a:extLst>
          </p:cNvPr>
          <p:cNvSpPr txBox="1"/>
          <p:nvPr/>
        </p:nvSpPr>
        <p:spPr>
          <a:xfrm>
            <a:off x="623455" y="692266"/>
            <a:ext cx="3005951" cy="4995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2800" b="1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参赛作品系统提交说明：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C89BFF6-9271-CF96-BD29-98F389392F69}"/>
              </a:ext>
            </a:extLst>
          </p:cNvPr>
          <p:cNvSpPr txBox="1"/>
          <p:nvPr/>
        </p:nvSpPr>
        <p:spPr>
          <a:xfrm>
            <a:off x="623455" y="1522942"/>
            <a:ext cx="11272057" cy="1123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b="1" dirty="0"/>
              <a:t>提交流程</a:t>
            </a:r>
            <a:r>
              <a:rPr lang="zh-CN" altLang="en-US" b="1" dirty="0">
                <a:solidFill>
                  <a:srgbClr val="C00000"/>
                </a:solidFill>
              </a:rPr>
              <a:t>（必须通过阿里云赛事官网完成提交）</a:t>
            </a:r>
            <a:r>
              <a:rPr lang="zh-CN" altLang="en-US" b="1" dirty="0"/>
              <a:t>：</a:t>
            </a:r>
            <a:endParaRPr lang="en-US" altLang="zh-CN" b="1" dirty="0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b="1" dirty="0"/>
              <a:t>必须至赛事官 </a:t>
            </a:r>
            <a:r>
              <a:rPr lang="en" altLang="zh-CN" b="1" dirty="0">
                <a:hlinkClick r:id="rId2"/>
              </a:rPr>
              <a:t>https://university.aliyun.com/action/tzbjbgs2026</a:t>
            </a:r>
            <a:r>
              <a:rPr lang="zh-CN" altLang="en-US" b="1" dirty="0"/>
              <a:t>   进入作品提交入口，完成作品提交。</a:t>
            </a:r>
            <a:endParaRPr lang="en-US" altLang="zh-CN" b="1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85EFBC7-FFED-679F-F864-E9855DA773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839" y="2797882"/>
            <a:ext cx="9287108" cy="3367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328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92543-2219-6934-D750-B77303D1C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4620339-D2AC-6137-6C37-A462CF49F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647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FA2AF23-6719-66BF-523D-FDE4AA9FCBBD}"/>
              </a:ext>
            </a:extLst>
          </p:cNvPr>
          <p:cNvSpPr txBox="1"/>
          <p:nvPr/>
        </p:nvSpPr>
        <p:spPr>
          <a:xfrm>
            <a:off x="2262396" y="3918974"/>
            <a:ext cx="80329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下页开始为作品提交模板，可直接使用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4B7DBC8-103F-3DF8-59D9-14B20B66ED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829" y="0"/>
            <a:ext cx="12212558" cy="2910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805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BAD1D95-E6EA-F099-546A-FCB948E6DEA7}"/>
              </a:ext>
            </a:extLst>
          </p:cNvPr>
          <p:cNvSpPr txBox="1"/>
          <p:nvPr/>
        </p:nvSpPr>
        <p:spPr>
          <a:xfrm>
            <a:off x="318174" y="156879"/>
            <a:ext cx="11232563" cy="499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开篇第一页：参赛团队信息</a:t>
            </a:r>
            <a:r>
              <a:rPr kumimoji="1" lang="en-US" altLang="zh-CN" sz="20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kumimoji="1" lang="zh-CN" altLang="en-US" sz="20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成员信息（必须将盖章版本的报名表第一页和第二页截图贴上来）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67DFB72-56C1-03DE-6801-750B92856397}"/>
              </a:ext>
            </a:extLst>
          </p:cNvPr>
          <p:cNvSpPr txBox="1"/>
          <p:nvPr/>
        </p:nvSpPr>
        <p:spPr>
          <a:xfrm>
            <a:off x="8857577" y="656439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C00000"/>
                </a:solidFill>
              </a:rPr>
              <a:t>就是下图的这两页完整内容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B9BC969-4DC2-16B4-A394-A1738524E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701" y="1001321"/>
            <a:ext cx="8188953" cy="569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692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2FB7B096-A2A1-F7E3-8E53-574ADC7F23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6035234"/>
              </p:ext>
            </p:extLst>
          </p:nvPr>
        </p:nvGraphicFramePr>
        <p:xfrm>
          <a:off x="365760" y="859878"/>
          <a:ext cx="10711040" cy="55769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6252">
                  <a:extLst>
                    <a:ext uri="{9D8B030D-6E8A-4147-A177-3AD203B41FA5}">
                      <a16:colId xmlns:a16="http://schemas.microsoft.com/office/drawing/2014/main" val="429924998"/>
                    </a:ext>
                  </a:extLst>
                </a:gridCol>
                <a:gridCol w="8164788">
                  <a:extLst>
                    <a:ext uri="{9D8B030D-6E8A-4147-A177-3AD203B41FA5}">
                      <a16:colId xmlns:a16="http://schemas.microsoft.com/office/drawing/2014/main" val="455231388"/>
                    </a:ext>
                  </a:extLst>
                </a:gridCol>
              </a:tblGrid>
              <a:tr h="74545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挑战杯系统报名时参赛作品名称（必填）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1200" kern="1200" dirty="0" err="1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xxxxxxxxxxxxxxxxxxxxxxxx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877665"/>
                  </a:ext>
                </a:extLst>
              </a:tr>
              <a:tr h="74545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2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最终参赛作品名称（如后续无更新可忽略）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1200" kern="1200" dirty="0" err="1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xxxxxxxxxxxxxxxxxxxxxxxxxxx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1232660"/>
                  </a:ext>
                </a:extLst>
              </a:tr>
              <a:tr h="62947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2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选题</a:t>
                      </a:r>
                      <a:r>
                        <a:rPr lang="zh-CN" altLang="en-US" sz="12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Wingdings" pitchFamily="2" charset="2"/>
                        </a:rPr>
                        <a:t>（必填</a:t>
                      </a:r>
                      <a:r>
                        <a:rPr lang="en-US" altLang="zh-CN" sz="12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Wingdings" pitchFamily="2" charset="2"/>
                        </a:rPr>
                        <a:t>-</a:t>
                      </a:r>
                      <a:r>
                        <a:rPr lang="zh-CN" altLang="en-US" sz="12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Wingdings" pitchFamily="2" charset="2"/>
                        </a:rPr>
                        <a:t>赛道几第几个方向选题）</a:t>
                      </a:r>
                      <a:endParaRPr lang="zh-CN" altLang="en-US" sz="12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如：</a:t>
                      </a:r>
                      <a:r>
                        <a:rPr lang="zh-CN" altLang="zh-CN" sz="1200" kern="1200" dirty="0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如赛道一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-</a:t>
                      </a:r>
                      <a:r>
                        <a:rPr lang="zh-CN" altLang="zh-CN" sz="1200" kern="1200" dirty="0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选题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1xxxx-A</a:t>
                      </a:r>
                      <a:r>
                        <a:rPr lang="zh-CN" altLang="zh-CN" sz="1200" kern="1200" dirty="0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 </a:t>
                      </a:r>
                      <a:r>
                        <a:rPr lang="en-US" altLang="zh-CN" sz="1200" kern="1200" dirty="0" err="1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xxxxx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2185258"/>
                  </a:ext>
                </a:extLst>
              </a:tr>
              <a:tr h="123048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2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参赛作品简介（</a:t>
                      </a:r>
                      <a:r>
                        <a:rPr lang="en-US" altLang="zh-CN" sz="12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300</a:t>
                      </a:r>
                      <a:r>
                        <a:rPr lang="zh-CN" altLang="en-US" sz="12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字内）</a:t>
                      </a:r>
                      <a:r>
                        <a:rPr lang="en-US" altLang="zh-CN" sz="12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-</a:t>
                      </a:r>
                      <a:r>
                        <a:rPr lang="zh-CN" altLang="en-US" sz="12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（必填）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1200" kern="1200" dirty="0" err="1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xxxxxxxxxxxxxxxxxxxxxxxx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4348666"/>
                  </a:ext>
                </a:extLst>
              </a:tr>
              <a:tr h="106965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2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参赛作品使用</a:t>
                      </a:r>
                      <a:r>
                        <a:rPr lang="en-US" altLang="zh-CN" sz="12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Qwen</a:t>
                      </a:r>
                      <a:r>
                        <a:rPr lang="zh-CN" altLang="en-US" sz="12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大模型及</a:t>
                      </a:r>
                      <a:r>
                        <a:rPr lang="en-US" altLang="zh-CN" sz="12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AI</a:t>
                      </a:r>
                      <a:r>
                        <a:rPr lang="zh-CN" altLang="en-US" sz="12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技术说明（</a:t>
                      </a:r>
                      <a:r>
                        <a:rPr lang="en-US" altLang="zh-CN" sz="12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300</a:t>
                      </a:r>
                      <a:r>
                        <a:rPr lang="zh-CN" altLang="en-US" sz="12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字内）</a:t>
                      </a:r>
                      <a:r>
                        <a:rPr lang="en-US" altLang="zh-CN" sz="12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-</a:t>
                      </a:r>
                      <a:r>
                        <a:rPr lang="zh-CN" altLang="en-US" sz="12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（必填）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1200" kern="1200" dirty="0" err="1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xxxxxxxxxxxxxxxxxxxxxxxx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6111878"/>
                  </a:ext>
                </a:extLst>
              </a:tr>
              <a:tr h="607091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zh-CN" sz="1200" kern="1200" dirty="0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宣传视频链接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/</a:t>
                      </a:r>
                      <a:r>
                        <a:rPr lang="zh-CN" altLang="zh-CN" sz="1200" kern="1200" dirty="0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其他作品相关文件（没有的可忽略）链接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zh-CN" sz="1200" kern="1200" dirty="0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视频需上传至夸克网盘，分享链接复制 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1200" kern="1200" dirty="0" err="1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xxxxxxxxxxxxxxxxxxxxxxxx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2154233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4F280198-F2AC-D166-C877-F7AEF1E7D1BA}"/>
              </a:ext>
            </a:extLst>
          </p:cNvPr>
          <p:cNvSpPr txBox="1"/>
          <p:nvPr/>
        </p:nvSpPr>
        <p:spPr>
          <a:xfrm>
            <a:off x="390400" y="174717"/>
            <a:ext cx="3852337" cy="4995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开篇第二页： 参赛作品基本情况</a:t>
            </a:r>
          </a:p>
        </p:txBody>
      </p:sp>
    </p:spTree>
    <p:extLst>
      <p:ext uri="{BB962C8B-B14F-4D97-AF65-F5344CB8AC3E}">
        <p14:creationId xmlns:p14="http://schemas.microsoft.com/office/powerpoint/2010/main" val="3032376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24C8A-2977-37BA-ACF8-6050231A8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B4E2094-87FF-8AD6-3E19-A701709D4D49}"/>
              </a:ext>
            </a:extLst>
          </p:cNvPr>
          <p:cNvSpPr txBox="1"/>
          <p:nvPr/>
        </p:nvSpPr>
        <p:spPr>
          <a:xfrm>
            <a:off x="671332" y="1479711"/>
            <a:ext cx="6227179" cy="499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2000" b="1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>
                <a:highlight>
                  <a:srgbClr val="FFFF00"/>
                </a:highlight>
              </a:rPr>
              <a:t>赛道一：</a:t>
            </a:r>
            <a:r>
              <a:rPr lang="zh-CN" altLang="zh-CN" dirty="0">
                <a:highlight>
                  <a:srgbClr val="FFFF00"/>
                </a:highlight>
              </a:rPr>
              <a:t>科学问题</a:t>
            </a:r>
            <a:r>
              <a:rPr lang="zh-CN" altLang="en-US" dirty="0">
                <a:highlight>
                  <a:srgbClr val="FFFF00"/>
                </a:highlight>
              </a:rPr>
              <a:t>提交模板详情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830AA2F-2625-74F7-C3F4-1383DEC6AE24}"/>
              </a:ext>
            </a:extLst>
          </p:cNvPr>
          <p:cNvSpPr txBox="1"/>
          <p:nvPr/>
        </p:nvSpPr>
        <p:spPr>
          <a:xfrm>
            <a:off x="671332" y="2124520"/>
            <a:ext cx="9661615" cy="3376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赛道一</a:t>
            </a:r>
            <a:r>
              <a:rPr kumimoji="1" lang="en-US" altLang="zh-CN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-</a:t>
            </a:r>
            <a:r>
              <a:rPr kumimoji="1" lang="zh-CN" altLang="en-US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方向</a:t>
            </a:r>
            <a:r>
              <a:rPr kumimoji="1" lang="en-US" altLang="zh-CN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</a:t>
            </a:r>
            <a:r>
              <a:rPr kumimoji="1" lang="en" altLang="zh-CN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A-</a:t>
            </a:r>
            <a:r>
              <a:rPr kumimoji="1" lang="zh-CN" altLang="en-US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科学假设生成与研究计划设计</a:t>
            </a:r>
            <a:r>
              <a:rPr kumimoji="1"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-</a:t>
            </a:r>
            <a:r>
              <a:rPr kumimoji="1"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提交要求 模板下载链接：</a:t>
            </a:r>
            <a:endParaRPr kumimoji="1" lang="en-US" altLang="zh-CN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zh-CN" dirty="0">
                <a:hlinkClick r:id="rId2"/>
              </a:rPr>
              <a:t>https://files.alicdn.com/tpsservice/a55e44bae21d1270bb4a9f6a3dfec87d.zip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kumimoji="1" lang="en-US" altLang="zh-CN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赛道一</a:t>
            </a:r>
            <a:r>
              <a:rPr kumimoji="1" lang="en-US" altLang="zh-CN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-</a:t>
            </a:r>
            <a:r>
              <a:rPr kumimoji="1" lang="zh-CN" altLang="en-US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方向</a:t>
            </a:r>
            <a:r>
              <a:rPr kumimoji="1" lang="en-US" altLang="zh-CN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</a:t>
            </a:r>
            <a:r>
              <a:rPr kumimoji="1" lang="en" altLang="zh-CN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B-</a:t>
            </a:r>
            <a:r>
              <a:rPr kumimoji="1" lang="zh-CN" altLang="en-US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科学实验任务规划与反馈迭代</a:t>
            </a:r>
            <a:r>
              <a:rPr kumimoji="1"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-</a:t>
            </a:r>
            <a:r>
              <a:rPr kumimoji="1"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提交要求  模板下载链接：</a:t>
            </a:r>
            <a:endParaRPr kumimoji="1" lang="en-US" altLang="zh-CN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zh-CN" dirty="0">
                <a:hlinkClick r:id="rId3"/>
              </a:rPr>
              <a:t>https://files.alicdn.com/tpsservice/dba1def4f6c8230450e4b510eb9c5490.zip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kumimoji="1" lang="en-US" altLang="zh-CN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赛道一</a:t>
            </a:r>
            <a:r>
              <a:rPr kumimoji="1" lang="en-US" altLang="zh-CN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-</a:t>
            </a:r>
            <a:r>
              <a:rPr kumimoji="1" lang="zh-CN" altLang="en-US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方向</a:t>
            </a:r>
            <a:r>
              <a:rPr kumimoji="1" lang="en-US" altLang="zh-CN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2-</a:t>
            </a:r>
            <a:r>
              <a:rPr kumimoji="1" lang="zh-CN" altLang="en-US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金乌太阳物理数据建模与假设生成</a:t>
            </a:r>
            <a:r>
              <a:rPr kumimoji="1"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-</a:t>
            </a:r>
            <a:r>
              <a:rPr kumimoji="1"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提交要求及模板下载链接：</a:t>
            </a:r>
            <a:endParaRPr kumimoji="1" lang="en-US" altLang="zh-CN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zh-CN" dirty="0">
                <a:hlinkClick r:id="rId4"/>
              </a:rPr>
              <a:t>https://files.alicdn.com/tpsservice/7c328b8db51d45e60c28551f95ee800b.zip</a:t>
            </a:r>
            <a:endParaRPr kumimoji="1" lang="zh-CN" altLang="en-US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5B4D020-BF24-7A0B-432C-35CE6B0E6262}"/>
              </a:ext>
            </a:extLst>
          </p:cNvPr>
          <p:cNvSpPr txBox="1"/>
          <p:nvPr/>
        </p:nvSpPr>
        <p:spPr>
          <a:xfrm>
            <a:off x="390400" y="174717"/>
            <a:ext cx="5827236" cy="4995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以下为各个赛道题目方向详细提交要求及参考模板</a:t>
            </a:r>
          </a:p>
        </p:txBody>
      </p:sp>
    </p:spTree>
    <p:extLst>
      <p:ext uri="{BB962C8B-B14F-4D97-AF65-F5344CB8AC3E}">
        <p14:creationId xmlns:p14="http://schemas.microsoft.com/office/powerpoint/2010/main" val="2900476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CC68A-93EF-D2CB-E27E-C62E26440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D3722E8-9A8C-1144-FB4A-910A6359F79A}"/>
              </a:ext>
            </a:extLst>
          </p:cNvPr>
          <p:cNvSpPr txBox="1"/>
          <p:nvPr/>
        </p:nvSpPr>
        <p:spPr>
          <a:xfrm>
            <a:off x="671332" y="1479711"/>
            <a:ext cx="6227179" cy="499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2000" b="1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>
                <a:highlight>
                  <a:srgbClr val="FFFF00"/>
                </a:highlight>
              </a:rPr>
              <a:t>赛道二：数据场景提交模板详情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07BA7BA-A9EC-A4F8-77FE-D183797CA6D5}"/>
              </a:ext>
            </a:extLst>
          </p:cNvPr>
          <p:cNvSpPr txBox="1"/>
          <p:nvPr/>
        </p:nvSpPr>
        <p:spPr>
          <a:xfrm>
            <a:off x="787078" y="2291788"/>
            <a:ext cx="8565165" cy="3880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赛道二</a:t>
            </a:r>
            <a:r>
              <a:rPr kumimoji="1" lang="en-US" altLang="zh-CN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-</a:t>
            </a:r>
            <a:r>
              <a:rPr kumimoji="1" lang="zh-CN" altLang="en-US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方向</a:t>
            </a:r>
            <a:r>
              <a:rPr kumimoji="1" lang="en-US" altLang="zh-CN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</a:t>
            </a:r>
            <a:r>
              <a:rPr kumimoji="1" lang="en" altLang="zh-CN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A-</a:t>
            </a:r>
            <a:r>
              <a:rPr kumimoji="1" lang="zh-CN" altLang="en-US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科学数据整合与影响力分析应用</a:t>
            </a:r>
            <a:r>
              <a:rPr kumimoji="1"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-</a:t>
            </a:r>
            <a:r>
              <a:rPr kumimoji="1"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提交要求 模板下载链接：</a:t>
            </a:r>
            <a:endParaRPr kumimoji="1" lang="en-US" altLang="zh-CN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zh-CN" dirty="0">
                <a:hlinkClick r:id="rId2"/>
              </a:rPr>
              <a:t>https://files.alicdn.com/tpsservice/4126555d490cc2d04570d9233e30a7ea.zip</a:t>
            </a:r>
            <a:endParaRPr kumimoji="1" lang="en-US" altLang="zh-CN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</a:pPr>
            <a:endParaRPr kumimoji="1" lang="en-US" altLang="zh-CN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赛道二</a:t>
            </a:r>
            <a:r>
              <a:rPr kumimoji="1" lang="en-US" altLang="zh-CN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-</a:t>
            </a:r>
            <a:r>
              <a:rPr kumimoji="1" lang="zh-CN" altLang="en-US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方向</a:t>
            </a:r>
            <a:r>
              <a:rPr kumimoji="1" lang="en-US" altLang="zh-CN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</a:t>
            </a:r>
            <a:r>
              <a:rPr kumimoji="1" lang="en" altLang="zh-CN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B-</a:t>
            </a:r>
            <a:r>
              <a:rPr kumimoji="1" lang="zh-CN" altLang="en-US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科研影响力分析与偏差解释</a:t>
            </a:r>
            <a:r>
              <a:rPr kumimoji="1"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-</a:t>
            </a:r>
            <a:r>
              <a:rPr kumimoji="1"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提交要求 模板下载链接：</a:t>
            </a:r>
            <a:endParaRPr kumimoji="1" lang="en-US" altLang="zh-CN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zh-CN" dirty="0">
                <a:hlinkClick r:id="rId3"/>
              </a:rPr>
              <a:t>https://files.alicdn.com/tpsservice/b0ee719121e498a69e17d8817226ad35.zip</a:t>
            </a:r>
            <a:endParaRPr kumimoji="1" lang="en-US" altLang="zh-CN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</a:pPr>
            <a:endParaRPr kumimoji="1" lang="en-US" altLang="zh-CN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赛道二</a:t>
            </a:r>
            <a:r>
              <a:rPr kumimoji="1" lang="en-US" altLang="zh-CN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-</a:t>
            </a:r>
            <a:r>
              <a:rPr kumimoji="1" lang="zh-CN" altLang="en-US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方向</a:t>
            </a:r>
            <a:r>
              <a:rPr kumimoji="1" lang="en-US" altLang="zh-CN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2-</a:t>
            </a:r>
            <a:r>
              <a:rPr kumimoji="1" lang="zh-CN" altLang="en-US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天文科学知识图谱构建与证据推理</a:t>
            </a:r>
            <a:r>
              <a:rPr kumimoji="1"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-</a:t>
            </a:r>
            <a:r>
              <a:rPr kumimoji="1"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提交要求 模板下载链接：</a:t>
            </a:r>
            <a:endParaRPr kumimoji="1" lang="en-US" altLang="zh-CN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>
                <a:hlinkClick r:id="rId4"/>
              </a:rPr>
              <a:t>https://files.alicdn.com/tpsservice/6351ee37da9ee3953478122ef59b6a8d.zip</a:t>
            </a:r>
            <a:endParaRPr kumimoji="1" lang="en-US" altLang="zh-CN" sz="2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</a:pPr>
            <a:endParaRPr kumimoji="1" lang="zh-CN" altLang="en-US" sz="2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D53D158-95B5-D353-671D-C6309F348507}"/>
              </a:ext>
            </a:extLst>
          </p:cNvPr>
          <p:cNvSpPr txBox="1"/>
          <p:nvPr/>
        </p:nvSpPr>
        <p:spPr>
          <a:xfrm>
            <a:off x="390400" y="174717"/>
            <a:ext cx="5827236" cy="4995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以下为各个赛道题目方向详细提交要求及参考模板</a:t>
            </a:r>
          </a:p>
        </p:txBody>
      </p:sp>
    </p:spTree>
    <p:extLst>
      <p:ext uri="{BB962C8B-B14F-4D97-AF65-F5344CB8AC3E}">
        <p14:creationId xmlns:p14="http://schemas.microsoft.com/office/powerpoint/2010/main" val="4063889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7DFF8-92B0-AE9E-05EF-3DEB1F1BC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ED8D3ED-7AB8-8DFE-5AAB-CFB60B34C915}"/>
              </a:ext>
            </a:extLst>
          </p:cNvPr>
          <p:cNvSpPr txBox="1"/>
          <p:nvPr/>
        </p:nvSpPr>
        <p:spPr>
          <a:xfrm>
            <a:off x="671332" y="1479711"/>
            <a:ext cx="6227179" cy="499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2000" b="1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>
                <a:highlight>
                  <a:srgbClr val="FFFF00"/>
                </a:highlight>
              </a:rPr>
              <a:t>赛道三：</a:t>
            </a:r>
            <a:r>
              <a:rPr lang="zh-CN" altLang="zh-CN" dirty="0">
                <a:highlight>
                  <a:srgbClr val="FFFF00"/>
                </a:highlight>
              </a:rPr>
              <a:t>科普科教与艺术表达</a:t>
            </a:r>
            <a:r>
              <a:rPr lang="zh-CN" altLang="en-US" dirty="0">
                <a:highlight>
                  <a:srgbClr val="FFFF00"/>
                </a:highlight>
              </a:rPr>
              <a:t>提交模板详情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6836B6A-7851-C033-6271-7DADA19E9B0F}"/>
              </a:ext>
            </a:extLst>
          </p:cNvPr>
          <p:cNvSpPr txBox="1"/>
          <p:nvPr/>
        </p:nvSpPr>
        <p:spPr>
          <a:xfrm>
            <a:off x="787078" y="2291788"/>
            <a:ext cx="9639312" cy="33774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赛道三</a:t>
            </a:r>
            <a:r>
              <a:rPr kumimoji="1" lang="en-US" altLang="zh-CN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-</a:t>
            </a:r>
            <a:r>
              <a:rPr kumimoji="1" lang="zh-CN" altLang="en-US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方向</a:t>
            </a:r>
            <a:r>
              <a:rPr kumimoji="1" lang="en-US" altLang="zh-CN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1-</a:t>
            </a:r>
            <a:r>
              <a:rPr kumimoji="1" lang="zh-CN" altLang="en-US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从会回答到有温度</a:t>
            </a:r>
            <a:r>
              <a:rPr kumimoji="1" lang="en-US" altLang="zh-CN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-</a:t>
            </a:r>
            <a:r>
              <a:rPr kumimoji="1" lang="zh-CN" altLang="en-US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数字分身与</a:t>
            </a:r>
            <a:r>
              <a:rPr kumimoji="1" lang="en" altLang="zh-CN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AI</a:t>
            </a:r>
            <a:r>
              <a:rPr kumimoji="1" lang="zh-CN" altLang="en-US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人味</a:t>
            </a:r>
            <a:r>
              <a:rPr kumimoji="1"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-</a:t>
            </a:r>
            <a:r>
              <a:rPr kumimoji="1"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提交要求及模板 下载链接：</a:t>
            </a:r>
            <a:endParaRPr kumimoji="1" lang="en-US" altLang="zh-CN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zh-CN" dirty="0">
                <a:hlinkClick r:id="rId2"/>
              </a:rPr>
              <a:t>https://files.alicdn.com/tpsservice/7b5b18a0735f77a3c6c8bacfa7b7fed0.zip</a:t>
            </a:r>
            <a:endParaRPr kumimoji="1" lang="en-US" altLang="zh-CN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</a:pPr>
            <a:endParaRPr kumimoji="1" lang="en-US" altLang="zh-CN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赛道三</a:t>
            </a:r>
            <a:r>
              <a:rPr kumimoji="1" lang="en-US" altLang="zh-CN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-</a:t>
            </a:r>
            <a:r>
              <a:rPr kumimoji="1" lang="zh-CN" altLang="en-US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方向</a:t>
            </a:r>
            <a:r>
              <a:rPr kumimoji="1" lang="en-US" altLang="zh-CN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2-</a:t>
            </a:r>
            <a:r>
              <a:rPr kumimoji="1" lang="zh-CN" altLang="en-US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科学传播的多元艺术表达</a:t>
            </a:r>
            <a:r>
              <a:rPr kumimoji="1"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-</a:t>
            </a:r>
            <a:r>
              <a:rPr kumimoji="1"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提交要求及模板 下载链接：</a:t>
            </a:r>
            <a:endParaRPr kumimoji="1" lang="en-US" altLang="zh-CN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zh-CN" dirty="0">
                <a:hlinkClick r:id="rId3"/>
              </a:rPr>
              <a:t>https://files.alicdn.com/tpsservice/4d44ff0573a4ee248f1688765d958ca1.zip</a:t>
            </a:r>
            <a:endParaRPr kumimoji="1" lang="en-US" altLang="zh-CN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</a:pPr>
            <a:endParaRPr kumimoji="1" lang="en-US" altLang="zh-CN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赛道三</a:t>
            </a:r>
            <a:r>
              <a:rPr kumimoji="1" lang="en-US" altLang="zh-CN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-</a:t>
            </a:r>
            <a:r>
              <a:rPr kumimoji="1" lang="zh-CN" altLang="en-US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方向</a:t>
            </a:r>
            <a:r>
              <a:rPr kumimoji="1" lang="en-US" altLang="zh-CN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3-</a:t>
            </a:r>
            <a:r>
              <a:rPr kumimoji="1" lang="zh-CN" altLang="en-US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星语面向</a:t>
            </a:r>
            <a:r>
              <a:rPr kumimoji="1" lang="en" altLang="zh-CN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AI</a:t>
            </a:r>
            <a:r>
              <a:rPr kumimoji="1" lang="zh-CN" altLang="en-US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的天文实训</a:t>
            </a:r>
            <a:r>
              <a:rPr kumimoji="1"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-</a:t>
            </a:r>
            <a:r>
              <a:rPr kumimoji="1"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提交要求及模板 下载链接：</a:t>
            </a:r>
            <a:endParaRPr kumimoji="1" lang="en-US" altLang="zh-CN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zh-CN" dirty="0">
                <a:hlinkClick r:id="rId4"/>
              </a:rPr>
              <a:t>https://files.alicdn.com/tpsservice/c8eeeba1a3220c08931d01ed0c5a98c0.zip</a:t>
            </a:r>
            <a:endParaRPr kumimoji="1" lang="zh-CN" altLang="en-US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AE80993-2ED8-FD86-CAC1-BD8EF337E246}"/>
              </a:ext>
            </a:extLst>
          </p:cNvPr>
          <p:cNvSpPr txBox="1"/>
          <p:nvPr/>
        </p:nvSpPr>
        <p:spPr>
          <a:xfrm>
            <a:off x="390400" y="174717"/>
            <a:ext cx="5827236" cy="4995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以下为各个赛道题目方向详细提交要求及参考模板</a:t>
            </a:r>
          </a:p>
        </p:txBody>
      </p:sp>
    </p:spTree>
    <p:extLst>
      <p:ext uri="{BB962C8B-B14F-4D97-AF65-F5344CB8AC3E}">
        <p14:creationId xmlns:p14="http://schemas.microsoft.com/office/powerpoint/2010/main" val="1273063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FA399-AF51-7079-EDBD-19EE1DC90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3BCDCC5-B971-22FA-6DC6-88CDE9DCBCDA}"/>
              </a:ext>
            </a:extLst>
          </p:cNvPr>
          <p:cNvSpPr txBox="1"/>
          <p:nvPr/>
        </p:nvSpPr>
        <p:spPr>
          <a:xfrm>
            <a:off x="687658" y="2163330"/>
            <a:ext cx="1081668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4400" b="1" dirty="0">
                <a:solidFill>
                  <a:srgbClr val="0432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同学们参考模板的逻辑框架进行提交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77C4E65-4854-D5F7-A958-713C1B9FD88D}"/>
              </a:ext>
            </a:extLst>
          </p:cNvPr>
          <p:cNvSpPr txBox="1"/>
          <p:nvPr/>
        </p:nvSpPr>
        <p:spPr>
          <a:xfrm>
            <a:off x="1661532" y="3189249"/>
            <a:ext cx="7366119" cy="7934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/>
              <a:t>提交时请务必仔细核对作品提交要求的所有信息，确保内容准确、真实、完整。</a:t>
            </a:r>
            <a:endParaRPr kumimoji="1" lang="en-US" altLang="zh-CN" sz="1600" dirty="0"/>
          </a:p>
          <a:p>
            <a:pPr>
              <a:lnSpc>
                <a:spcPct val="150000"/>
              </a:lnSpc>
            </a:pPr>
            <a:r>
              <a:rPr kumimoji="1" lang="zh-CN" altLang="en-US" sz="1600" dirty="0"/>
              <a:t>期待大家的佳作。</a:t>
            </a:r>
          </a:p>
        </p:txBody>
      </p:sp>
    </p:spTree>
    <p:extLst>
      <p:ext uri="{BB962C8B-B14F-4D97-AF65-F5344CB8AC3E}">
        <p14:creationId xmlns:p14="http://schemas.microsoft.com/office/powerpoint/2010/main" val="2292101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1661</TotalTime>
  <Words>801</Words>
  <Application>Microsoft Macintosh PowerPoint</Application>
  <PresentationFormat>宽屏</PresentationFormat>
  <Paragraphs>61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等线</vt:lpstr>
      <vt:lpstr>等线 Light</vt:lpstr>
      <vt:lpstr>Microsoft YaHei</vt:lpstr>
      <vt:lpstr>Alibaba PuHuiTi B</vt:lpstr>
      <vt:lpstr>Alibaba PuHuiTi R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王文迪</cp:lastModifiedBy>
  <cp:revision>31</cp:revision>
  <dcterms:created xsi:type="dcterms:W3CDTF">2025-07-15T06:49:53Z</dcterms:created>
  <dcterms:modified xsi:type="dcterms:W3CDTF">2026-08-19T06:35:46Z</dcterms:modified>
</cp:coreProperties>
</file>